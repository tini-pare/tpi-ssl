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5"/>
  </p:notesMasterIdLst>
  <p:sldIdLst>
    <p:sldId id="256" r:id="rId2"/>
    <p:sldId id="315" r:id="rId3"/>
    <p:sldId id="316" r:id="rId4"/>
    <p:sldId id="257" r:id="rId5"/>
    <p:sldId id="313" r:id="rId6"/>
    <p:sldId id="258" r:id="rId7"/>
    <p:sldId id="263" r:id="rId8"/>
    <p:sldId id="264" r:id="rId9"/>
    <p:sldId id="311" r:id="rId10"/>
    <p:sldId id="312" r:id="rId11"/>
    <p:sldId id="317" r:id="rId12"/>
    <p:sldId id="314" r:id="rId13"/>
    <p:sldId id="259" r:id="rId14"/>
  </p:sldIdLst>
  <p:sldSz cx="9144000" cy="5143500" type="screen16x9"/>
  <p:notesSz cx="6858000" cy="9144000"/>
  <p:embeddedFontLst>
    <p:embeddedFont>
      <p:font typeface="Oxygen" panose="02000503000000000000" pitchFamily="2" charset="0"/>
      <p:regular r:id="rId16"/>
      <p:bold r:id="rId17"/>
    </p:embeddedFont>
    <p:embeddedFont>
      <p:font typeface="Oxygen Light" panose="02000303000000000000" pitchFamily="2" charset="0"/>
      <p:regular r:id="rId18"/>
      <p:bold r:id="rId19"/>
    </p:embeddedFont>
    <p:embeddedFont>
      <p:font typeface="Poiret One" panose="00000500000000000000" pitchFamily="2" charset="0"/>
      <p:regular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03D3C6-29B8-4650-ADF0-446E686222EE}">
  <a:tblStyle styleId="{2C03D3C6-29B8-4650-ADF0-446E686222E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29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a25f85cae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a25f85cae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1CD9389F-D470-F666-328C-32720DAF1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ac439249f7_0_2:notes">
            <a:extLst>
              <a:ext uri="{FF2B5EF4-FFF2-40B4-BE49-F238E27FC236}">
                <a16:creationId xmlns:a16="http://schemas.microsoft.com/office/drawing/2014/main" id="{B7902144-CD94-A56F-13F2-36FE08F493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ac439249f7_0_2:notes">
            <a:extLst>
              <a:ext uri="{FF2B5EF4-FFF2-40B4-BE49-F238E27FC236}">
                <a16:creationId xmlns:a16="http://schemas.microsoft.com/office/drawing/2014/main" id="{49B33200-7BA0-251E-814E-529821D636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9811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A9D2BB9F-41BB-B265-3B6E-E853F7C62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ac439249f7_0_2:notes">
            <a:extLst>
              <a:ext uri="{FF2B5EF4-FFF2-40B4-BE49-F238E27FC236}">
                <a16:creationId xmlns:a16="http://schemas.microsoft.com/office/drawing/2014/main" id="{B32A24C4-EE96-388C-37B7-C2963DFE82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ac439249f7_0_2:notes">
            <a:extLst>
              <a:ext uri="{FF2B5EF4-FFF2-40B4-BE49-F238E27FC236}">
                <a16:creationId xmlns:a16="http://schemas.microsoft.com/office/drawing/2014/main" id="{9372EB58-33CD-93AD-671D-F03840DBB2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16323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ac439249f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ac439249f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ac439249f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ac439249f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08622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ac439249f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ac439249f7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4a95b51c6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4a95b51c6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ac439249f7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ac439249f7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4a95b51c6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4a95b51c6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20689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ac439249f7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ac439249f7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71028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01CB99CA-1962-F906-67B9-577A4154D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ac439249f7_0_69:notes">
            <a:extLst>
              <a:ext uri="{FF2B5EF4-FFF2-40B4-BE49-F238E27FC236}">
                <a16:creationId xmlns:a16="http://schemas.microsoft.com/office/drawing/2014/main" id="{2B6DC7B1-4494-945F-B7FA-31ED1946BC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ac439249f7_0_69:notes">
            <a:extLst>
              <a:ext uri="{FF2B5EF4-FFF2-40B4-BE49-F238E27FC236}">
                <a16:creationId xmlns:a16="http://schemas.microsoft.com/office/drawing/2014/main" id="{F59E24B6-4C94-1482-58C5-335DC4423D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806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>
          <a:extLst>
            <a:ext uri="{FF2B5EF4-FFF2-40B4-BE49-F238E27FC236}">
              <a16:creationId xmlns:a16="http://schemas.microsoft.com/office/drawing/2014/main" id="{8FDA07E8-7ADD-5E3C-3CD0-08313202C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ac439249f7_0_69:notes">
            <a:extLst>
              <a:ext uri="{FF2B5EF4-FFF2-40B4-BE49-F238E27FC236}">
                <a16:creationId xmlns:a16="http://schemas.microsoft.com/office/drawing/2014/main" id="{196690A7-CE95-571A-C735-60670F161A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ac439249f7_0_69:notes">
            <a:extLst>
              <a:ext uri="{FF2B5EF4-FFF2-40B4-BE49-F238E27FC236}">
                <a16:creationId xmlns:a16="http://schemas.microsoft.com/office/drawing/2014/main" id="{85655B0B-2172-33C9-1440-E08797DDE2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76976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ac439249f7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ac439249f7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9" cy="514400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438725" y="970200"/>
            <a:ext cx="4562400" cy="241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4400" b="1">
                <a:latin typeface="Poiret One"/>
                <a:ea typeface="Poiret One"/>
                <a:cs typeface="Poiret One"/>
                <a:sym typeface="Poiret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438917" y="3380700"/>
            <a:ext cx="45624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Oxygen"/>
                <a:ea typeface="Oxygen"/>
                <a:cs typeface="Oxygen"/>
                <a:sym typeface="Oxyge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Oxygen"/>
              <a:buChar char="●"/>
              <a:defRPr sz="1400">
                <a:latin typeface="Oxygen"/>
                <a:ea typeface="Oxygen"/>
                <a:cs typeface="Oxygen"/>
                <a:sym typeface="Oxygen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xygen"/>
              <a:buChar char="○"/>
              <a:defRPr>
                <a:latin typeface="Oxygen"/>
                <a:ea typeface="Oxygen"/>
                <a:cs typeface="Oxygen"/>
                <a:sym typeface="Oxygen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xygen"/>
              <a:buChar char="■"/>
              <a:defRPr>
                <a:latin typeface="Oxygen"/>
                <a:ea typeface="Oxygen"/>
                <a:cs typeface="Oxygen"/>
                <a:sym typeface="Oxygen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xygen"/>
              <a:buChar char="●"/>
              <a:defRPr>
                <a:latin typeface="Oxygen"/>
                <a:ea typeface="Oxygen"/>
                <a:cs typeface="Oxygen"/>
                <a:sym typeface="Oxygen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xygen"/>
              <a:buChar char="○"/>
              <a:defRPr>
                <a:latin typeface="Oxygen"/>
                <a:ea typeface="Oxygen"/>
                <a:cs typeface="Oxygen"/>
                <a:sym typeface="Oxygen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xygen"/>
              <a:buChar char="■"/>
              <a:defRPr>
                <a:latin typeface="Oxygen"/>
                <a:ea typeface="Oxygen"/>
                <a:cs typeface="Oxygen"/>
                <a:sym typeface="Oxygen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xygen"/>
              <a:buChar char="●"/>
              <a:defRPr>
                <a:latin typeface="Oxygen"/>
                <a:ea typeface="Oxygen"/>
                <a:cs typeface="Oxygen"/>
                <a:sym typeface="Oxygen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xygen"/>
              <a:buChar char="○"/>
              <a:defRPr>
                <a:latin typeface="Oxygen"/>
                <a:ea typeface="Oxygen"/>
                <a:cs typeface="Oxygen"/>
                <a:sym typeface="Oxygen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Oxygen"/>
              <a:buChar char="■"/>
              <a:defRPr>
                <a:latin typeface="Oxygen"/>
                <a:ea typeface="Oxygen"/>
                <a:cs typeface="Oxygen"/>
                <a:sym typeface="Oxygen"/>
              </a:defRPr>
            </a:lvl9pPr>
          </a:lstStyle>
          <a:p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1462775" y="1330050"/>
            <a:ext cx="6218400" cy="16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87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775600" y="3100075"/>
            <a:ext cx="3592800" cy="9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720000" y="280443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589526"/>
            <a:ext cx="23364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720000" y="3177110"/>
            <a:ext cx="2336400" cy="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3"/>
          </p:nvPr>
        </p:nvSpPr>
        <p:spPr>
          <a:xfrm>
            <a:off x="3403800" y="280443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4" hasCustomPrompt="1"/>
          </p:nvPr>
        </p:nvSpPr>
        <p:spPr>
          <a:xfrm>
            <a:off x="3403800" y="1589526"/>
            <a:ext cx="23364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5"/>
          </p:nvPr>
        </p:nvSpPr>
        <p:spPr>
          <a:xfrm>
            <a:off x="3403800" y="3177110"/>
            <a:ext cx="2336400" cy="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6"/>
          </p:nvPr>
        </p:nvSpPr>
        <p:spPr>
          <a:xfrm>
            <a:off x="6087600" y="280443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7" hasCustomPrompt="1"/>
          </p:nvPr>
        </p:nvSpPr>
        <p:spPr>
          <a:xfrm>
            <a:off x="6087600" y="1589526"/>
            <a:ext cx="23364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8"/>
          </p:nvPr>
        </p:nvSpPr>
        <p:spPr>
          <a:xfrm>
            <a:off x="6087600" y="3177110"/>
            <a:ext cx="2336400" cy="8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>
            <a:spLocks noGrp="1"/>
          </p:cNvSpPr>
          <p:nvPr>
            <p:ph type="subTitle" idx="1"/>
          </p:nvPr>
        </p:nvSpPr>
        <p:spPr>
          <a:xfrm>
            <a:off x="720000" y="1452575"/>
            <a:ext cx="4722000" cy="27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ven Pro"/>
              <a:buChar char="●"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○"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■"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●"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○"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■"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●"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○"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rgbClr val="024427"/>
              </a:buClr>
              <a:buSzPts val="1400"/>
              <a:buFont typeface="Maven Pro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2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0"/>
            <a:ext cx="9144000" cy="5143513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4"/>
          <p:cNvSpPr txBox="1">
            <a:spLocks noGrp="1"/>
          </p:cNvSpPr>
          <p:nvPr>
            <p:ph type="subTitle" idx="1"/>
          </p:nvPr>
        </p:nvSpPr>
        <p:spPr>
          <a:xfrm>
            <a:off x="720000" y="1452575"/>
            <a:ext cx="4293300" cy="27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ven Pro"/>
              <a:buChar char="●"/>
              <a:defRPr sz="1600">
                <a:latin typeface="Oxygen"/>
                <a:ea typeface="Oxygen"/>
                <a:cs typeface="Oxygen"/>
                <a:sym typeface="Oxygen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○"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■"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●"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○"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■"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●"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Clr>
                <a:srgbClr val="024427"/>
              </a:buClr>
              <a:buSzPts val="1400"/>
              <a:buFont typeface="Maven Pro"/>
              <a:buChar char="○"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Clr>
                <a:srgbClr val="024427"/>
              </a:buClr>
              <a:buSzPts val="1400"/>
              <a:buFont typeface="Maven Pro"/>
              <a:buChar char="■"/>
              <a:defRPr/>
            </a:lvl9pPr>
          </a:lstStyle>
          <a:p>
            <a:endParaRPr/>
          </a:p>
        </p:txBody>
      </p:sp>
      <p:sp>
        <p:nvSpPr>
          <p:cNvPr id="131" name="Google Shape;131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400"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4"/>
          <p:cNvSpPr>
            <a:spLocks noGrp="1"/>
          </p:cNvSpPr>
          <p:nvPr>
            <p:ph type="pic" idx="2"/>
          </p:nvPr>
        </p:nvSpPr>
        <p:spPr>
          <a:xfrm>
            <a:off x="5334000" y="1452575"/>
            <a:ext cx="3090000" cy="3090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3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4_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iret One"/>
              <a:buNone/>
              <a:defRPr sz="2800">
                <a:solidFill>
                  <a:schemeClr val="dk1"/>
                </a:solidFill>
                <a:latin typeface="Poiret One"/>
                <a:ea typeface="Poiret One"/>
                <a:cs typeface="Poiret One"/>
                <a:sym typeface="Poiret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bas Neue"/>
              <a:buNone/>
              <a:defRPr sz="28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Oxygen Light"/>
              <a:buChar char="●"/>
              <a:defRPr sz="1800"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/>
              <a:buChar char="○"/>
              <a:defRPr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/>
              <a:buChar char="■"/>
              <a:defRPr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/>
              <a:buChar char="●"/>
              <a:defRPr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/>
              <a:buChar char="○"/>
              <a:defRPr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/>
              <a:buChar char="■"/>
              <a:defRPr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/>
              <a:buChar char="●"/>
              <a:defRPr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 Light"/>
              <a:buChar char="○"/>
              <a:defRPr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Oxygen Light"/>
              <a:buChar char="■"/>
              <a:defRPr>
                <a:solidFill>
                  <a:schemeClr val="lt2"/>
                </a:solidFill>
                <a:latin typeface="Oxygen Light"/>
                <a:ea typeface="Oxygen Light"/>
                <a:cs typeface="Oxygen Light"/>
                <a:sym typeface="Oxygen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8" r:id="rId4"/>
    <p:sldLayoutId id="2147483659" r:id="rId5"/>
    <p:sldLayoutId id="2147483661" r:id="rId6"/>
    <p:sldLayoutId id="2147483670" r:id="rId7"/>
    <p:sldLayoutId id="2147483676" r:id="rId8"/>
    <p:sldLayoutId id="2147483677" r:id="rId9"/>
    <p:sldLayoutId id="2147483678" r:id="rId10"/>
  </p:sldLayoutIdLst>
  <p:transition spd="slow">
    <p:wip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5"/>
          <p:cNvSpPr txBox="1">
            <a:spLocks noGrp="1"/>
          </p:cNvSpPr>
          <p:nvPr>
            <p:ph type="ctrTitle"/>
          </p:nvPr>
        </p:nvSpPr>
        <p:spPr>
          <a:xfrm>
            <a:off x="3011037" y="384117"/>
            <a:ext cx="5974080" cy="241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Sintaxis y Semántica de los lenguajes</a:t>
            </a:r>
            <a:br>
              <a:rPr lang="en" dirty="0"/>
            </a:br>
            <a:r>
              <a:rPr lang="en" dirty="0"/>
              <a:t>Trabajo Práctico Integrador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73" name="Google Shape;173;p35"/>
          <p:cNvSpPr txBox="1">
            <a:spLocks noGrp="1"/>
          </p:cNvSpPr>
          <p:nvPr>
            <p:ph type="subTitle" idx="1"/>
          </p:nvPr>
        </p:nvSpPr>
        <p:spPr>
          <a:xfrm>
            <a:off x="4315754" y="2794617"/>
            <a:ext cx="4562400" cy="19228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u="sng" dirty="0"/>
              <a:t>Integrantes: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/>
              <a:t>Paré Collante, Agustina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/>
              <a:t>Godoy, Marianela Yasmín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/>
              <a:t>Sarachaga, Lautaro Leonel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/>
              <a:t>Martinez, Carlos Exequiel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/>
              <a:t>Ocampo, Santiago Mariano</a:t>
            </a:r>
            <a:endParaRPr sz="2000" b="1" dirty="0"/>
          </a:p>
        </p:txBody>
      </p:sp>
      <p:pic>
        <p:nvPicPr>
          <p:cNvPr id="2" name="image9.jpg">
            <a:extLst>
              <a:ext uri="{FF2B5EF4-FFF2-40B4-BE49-F238E27FC236}">
                <a16:creationId xmlns:a16="http://schemas.microsoft.com/office/drawing/2014/main" id="{E0C8780C-CF98-7BEE-F2DE-A9336B09C671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145917" y="2727710"/>
            <a:ext cx="1887855" cy="1887855"/>
          </a:xfrm>
          <a:prstGeom prst="rect">
            <a:avLst/>
          </a:prstGeom>
          <a:ln/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950E01E4-9549-F6AE-F0BA-287625315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6">
            <a:extLst>
              <a:ext uri="{FF2B5EF4-FFF2-40B4-BE49-F238E27FC236}">
                <a16:creationId xmlns:a16="http://schemas.microsoft.com/office/drawing/2014/main" id="{C99A4D7A-6C67-D810-9294-73CB0E4291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9999" y="38067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400" dirty="0"/>
              <a:t>LENGUAJE   UTILIZADO</a:t>
            </a:r>
            <a:endParaRPr sz="40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68045E3-7D21-AA86-92A8-543BCE512C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499" b="19603"/>
          <a:stretch>
            <a:fillRect/>
          </a:stretch>
        </p:blipFill>
        <p:spPr>
          <a:xfrm>
            <a:off x="2995392" y="1556444"/>
            <a:ext cx="3153215" cy="1055649"/>
          </a:xfrm>
          <a:prstGeom prst="rect">
            <a:avLst/>
          </a:prstGeom>
        </p:spPr>
      </p:pic>
      <p:sp>
        <p:nvSpPr>
          <p:cNvPr id="11" name="Google Shape;179;p36">
            <a:extLst>
              <a:ext uri="{FF2B5EF4-FFF2-40B4-BE49-F238E27FC236}">
                <a16:creationId xmlns:a16="http://schemas.microsoft.com/office/drawing/2014/main" id="{C1DD559E-0B1B-65E4-C52D-E6C12E972B7B}"/>
              </a:ext>
            </a:extLst>
          </p:cNvPr>
          <p:cNvSpPr txBox="1">
            <a:spLocks/>
          </p:cNvSpPr>
          <p:nvPr/>
        </p:nvSpPr>
        <p:spPr>
          <a:xfrm>
            <a:off x="772038" y="2905075"/>
            <a:ext cx="9107942" cy="1571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●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○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■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●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○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■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●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○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Oxygen"/>
              <a:buChar char="■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9pPr>
          </a:lstStyle>
          <a:p>
            <a:pPr marL="139700" indent="0">
              <a:buClr>
                <a:srgbClr val="273D40"/>
              </a:buClr>
              <a:buSzPts val="600"/>
              <a:buNone/>
            </a:pPr>
            <a:r>
              <a:rPr lang="es-MX" sz="1800" b="1" dirty="0"/>
              <a:t>• Simplicidad y legibilidad de código. </a:t>
            </a:r>
          </a:p>
          <a:p>
            <a:pPr marL="139700" indent="0">
              <a:buClr>
                <a:srgbClr val="273D40"/>
              </a:buClr>
              <a:buSzPts val="600"/>
              <a:buNone/>
            </a:pPr>
            <a:r>
              <a:rPr lang="es-MX" sz="1800" b="1" dirty="0"/>
              <a:t>• Amplia gama de bibliotecas y herramientas. </a:t>
            </a:r>
          </a:p>
          <a:p>
            <a:pPr marL="139700" indent="0">
              <a:buClr>
                <a:srgbClr val="273D40"/>
              </a:buClr>
              <a:buSzPts val="600"/>
              <a:buNone/>
            </a:pPr>
            <a:r>
              <a:rPr lang="es-MX" sz="1800" b="1" dirty="0"/>
              <a:t>• Comunidad activa y mucho material de aprendizaje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461690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>
          <a:extLst>
            <a:ext uri="{FF2B5EF4-FFF2-40B4-BE49-F238E27FC236}">
              <a16:creationId xmlns:a16="http://schemas.microsoft.com/office/drawing/2014/main" id="{D5C3914D-B4F6-31A0-6D41-EE33141E4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6">
            <a:extLst>
              <a:ext uri="{FF2B5EF4-FFF2-40B4-BE49-F238E27FC236}">
                <a16:creationId xmlns:a16="http://schemas.microsoft.com/office/drawing/2014/main" id="{8CDA968D-9090-ABC1-DB2F-770B57F94D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844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400" dirty="0"/>
              <a:t>H</a:t>
            </a:r>
            <a:r>
              <a:rPr lang="en" sz="4000" dirty="0"/>
              <a:t>erramientas que usamos y sus librerias </a:t>
            </a:r>
            <a:endParaRPr sz="4000" dirty="0"/>
          </a:p>
        </p:txBody>
      </p:sp>
      <p:sp>
        <p:nvSpPr>
          <p:cNvPr id="11" name="Google Shape;179;p36">
            <a:extLst>
              <a:ext uri="{FF2B5EF4-FFF2-40B4-BE49-F238E27FC236}">
                <a16:creationId xmlns:a16="http://schemas.microsoft.com/office/drawing/2014/main" id="{2133EC7F-5057-AC83-7839-5D41F64AEA20}"/>
              </a:ext>
            </a:extLst>
          </p:cNvPr>
          <p:cNvSpPr txBox="1">
            <a:spLocks/>
          </p:cNvSpPr>
          <p:nvPr/>
        </p:nvSpPr>
        <p:spPr>
          <a:xfrm>
            <a:off x="519278" y="1514889"/>
            <a:ext cx="9107942" cy="1571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●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○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■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●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○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■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●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Oxygen"/>
              <a:buChar char="○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Oxygen"/>
              <a:buChar char="■"/>
              <a:defRPr sz="1400" b="0" i="0" u="none" strike="noStrike" cap="none">
                <a:solidFill>
                  <a:schemeClr val="lt2"/>
                </a:solidFill>
                <a:latin typeface="Oxygen"/>
                <a:ea typeface="Oxygen"/>
                <a:cs typeface="Oxygen"/>
                <a:sym typeface="Oxygen"/>
              </a:defRPr>
            </a:lvl9pPr>
          </a:lstStyle>
          <a:p>
            <a:pPr marL="139700" indent="0">
              <a:buClr>
                <a:srgbClr val="273D40"/>
              </a:buClr>
              <a:buSzPts val="600"/>
              <a:buFont typeface="Oxygen"/>
              <a:buNone/>
            </a:pPr>
            <a:r>
              <a:rPr lang="es-AR" sz="1800" b="1" dirty="0">
                <a:solidFill>
                  <a:schemeClr val="tx2">
                    <a:lumMod val="75000"/>
                  </a:schemeClr>
                </a:solidFill>
                <a:latin typeface="Oxygen" panose="020B0604020202020204" charset="0"/>
              </a:rPr>
              <a:t>Herramientas: </a:t>
            </a:r>
          </a:p>
          <a:p>
            <a:pPr marL="139700" indent="0">
              <a:buClr>
                <a:srgbClr val="273D40"/>
              </a:buClr>
              <a:buSzPts val="600"/>
              <a:buNone/>
            </a:pPr>
            <a:r>
              <a:rPr lang="es-AR" sz="1800" dirty="0"/>
              <a:t>PLY </a:t>
            </a:r>
          </a:p>
          <a:p>
            <a:pPr marL="139700" indent="0">
              <a:buClr>
                <a:srgbClr val="273D40"/>
              </a:buClr>
              <a:buSzPts val="600"/>
              <a:buNone/>
            </a:pPr>
            <a:r>
              <a:rPr lang="es-AR" sz="1800" dirty="0"/>
              <a:t>• </a:t>
            </a:r>
            <a:r>
              <a:rPr lang="es-AR" sz="1800" dirty="0" err="1"/>
              <a:t>import</a:t>
            </a:r>
            <a:r>
              <a:rPr lang="es-AR" sz="1800" dirty="0"/>
              <a:t> </a:t>
            </a:r>
            <a:r>
              <a:rPr lang="es-AR" sz="1800" dirty="0" err="1"/>
              <a:t>ply.lex</a:t>
            </a:r>
            <a:r>
              <a:rPr lang="es-AR" sz="1800" dirty="0"/>
              <a:t> as lex (se utiliza para el análisis léxico.) </a:t>
            </a:r>
          </a:p>
          <a:p>
            <a:pPr marL="139700" indent="0">
              <a:buClr>
                <a:srgbClr val="273D40"/>
              </a:buClr>
              <a:buSzPts val="600"/>
              <a:buNone/>
            </a:pPr>
            <a:r>
              <a:rPr lang="es-AR" sz="1800" dirty="0"/>
              <a:t>• </a:t>
            </a:r>
            <a:r>
              <a:rPr lang="es-AR" sz="1800" dirty="0" err="1"/>
              <a:t>import</a:t>
            </a:r>
            <a:r>
              <a:rPr lang="es-AR" sz="1800" dirty="0"/>
              <a:t> </a:t>
            </a:r>
            <a:r>
              <a:rPr lang="es-AR" sz="1800" dirty="0" err="1"/>
              <a:t>ply.yacc</a:t>
            </a:r>
            <a:r>
              <a:rPr lang="es-AR" sz="1800" dirty="0"/>
              <a:t> as </a:t>
            </a:r>
            <a:r>
              <a:rPr lang="es-AR" sz="1800" dirty="0" err="1"/>
              <a:t>yacc</a:t>
            </a:r>
            <a:r>
              <a:rPr lang="es-AR" sz="1800" dirty="0"/>
              <a:t> (se utiliza para el análisis sintáctico.) </a:t>
            </a:r>
          </a:p>
          <a:p>
            <a:pPr marL="139700" indent="0">
              <a:buClr>
                <a:srgbClr val="273D40"/>
              </a:buClr>
              <a:buSzPts val="600"/>
              <a:buNone/>
            </a:pPr>
            <a:r>
              <a:rPr lang="es-AR" sz="1800" dirty="0"/>
              <a:t>OS </a:t>
            </a:r>
          </a:p>
          <a:p>
            <a:pPr marL="139700" indent="0">
              <a:buClr>
                <a:srgbClr val="273D40"/>
              </a:buClr>
              <a:buSzPts val="600"/>
              <a:buNone/>
            </a:pPr>
            <a:r>
              <a:rPr lang="es-AR" sz="1800" dirty="0"/>
              <a:t>• </a:t>
            </a:r>
            <a:r>
              <a:rPr lang="es-MX" sz="1800" dirty="0" err="1"/>
              <a:t>import</a:t>
            </a:r>
            <a:r>
              <a:rPr lang="es-MX" sz="1800" dirty="0"/>
              <a:t> os (proporciona funciones para interactuar con el sistema operativo.)</a:t>
            </a:r>
          </a:p>
          <a:p>
            <a:pPr marL="139700" indent="0">
              <a:buClr>
                <a:srgbClr val="273D40"/>
              </a:buClr>
              <a:buSzPts val="600"/>
              <a:buNone/>
            </a:pPr>
            <a:r>
              <a:rPr lang="es-MX" sz="1800" dirty="0"/>
              <a:t>SYS</a:t>
            </a:r>
          </a:p>
          <a:p>
            <a:pPr marL="139700" indent="0">
              <a:buClr>
                <a:srgbClr val="273D40"/>
              </a:buClr>
              <a:buSzPts val="600"/>
              <a:buNone/>
            </a:pPr>
            <a:r>
              <a:rPr lang="es-AR" sz="1800" dirty="0"/>
              <a:t>•</a:t>
            </a:r>
            <a:r>
              <a:rPr lang="es-MX" sz="1800" dirty="0"/>
              <a:t> Permite acceder a argumentos y funciones del sistema</a:t>
            </a:r>
          </a:p>
          <a:p>
            <a:pPr marL="139700" indent="0">
              <a:buClr>
                <a:srgbClr val="273D40"/>
              </a:buClr>
              <a:buSzPts val="600"/>
              <a:buNone/>
            </a:pPr>
            <a:r>
              <a:rPr lang="es-MX" sz="1800" dirty="0"/>
              <a:t>DATETIME</a:t>
            </a:r>
          </a:p>
          <a:p>
            <a:pPr marL="139700" indent="0">
              <a:buClr>
                <a:srgbClr val="273D40"/>
              </a:buClr>
              <a:buSzPts val="600"/>
              <a:buNone/>
            </a:pPr>
            <a:r>
              <a:rPr lang="es-AR" sz="1800" dirty="0"/>
              <a:t>•</a:t>
            </a:r>
            <a:r>
              <a:rPr lang="es-MX" sz="1800" dirty="0"/>
              <a:t> Maneja fechas y horas de forma estructurada y precisa.</a:t>
            </a:r>
          </a:p>
          <a:p>
            <a:pPr marL="139700" indent="0">
              <a:buClr>
                <a:srgbClr val="273D40"/>
              </a:buClr>
              <a:buSzPts val="600"/>
              <a:buNone/>
            </a:pPr>
            <a:endParaRPr lang="es-MX" sz="1800" dirty="0"/>
          </a:p>
          <a:p>
            <a:pPr marL="139700" indent="0">
              <a:buClr>
                <a:srgbClr val="273D40"/>
              </a:buClr>
              <a:buSzPts val="600"/>
              <a:buNone/>
            </a:pPr>
            <a:endParaRPr lang="es-AR" sz="1800" dirty="0"/>
          </a:p>
          <a:p>
            <a:pPr marL="139700" indent="0">
              <a:buClr>
                <a:srgbClr val="273D40"/>
              </a:buClr>
              <a:buSzPts val="600"/>
              <a:buNone/>
            </a:pPr>
            <a:r>
              <a:rPr lang="es-AR" sz="1800" b="1" dirty="0">
                <a:solidFill>
                  <a:schemeClr val="tx2">
                    <a:lumMod val="75000"/>
                  </a:schemeClr>
                </a:solidFill>
                <a:latin typeface="Oxygen" panose="020B0604020202020204" charset="0"/>
              </a:rPr>
              <a:t> </a:t>
            </a:r>
            <a:endParaRPr lang="es-AR" dirty="0">
              <a:solidFill>
                <a:schemeClr val="tx2">
                  <a:lumMod val="75000"/>
                </a:schemeClr>
              </a:solidFill>
              <a:latin typeface="Oxygen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39357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Gramática</a:t>
            </a:r>
            <a:endParaRPr sz="4400" dirty="0"/>
          </a:p>
        </p:txBody>
      </p:sp>
      <p:sp>
        <p:nvSpPr>
          <p:cNvPr id="179" name="Google Shape;179;p36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6689939" cy="9546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rgbClr val="273D40"/>
              </a:buClr>
              <a:buSzPts val="600"/>
              <a:buNone/>
            </a:pPr>
            <a:r>
              <a:rPr lang="es-AR" sz="1800" b="1" dirty="0">
                <a:solidFill>
                  <a:schemeClr val="tx2">
                    <a:lumMod val="75000"/>
                  </a:schemeClr>
                </a:solidFill>
                <a:latin typeface="Oxygen" panose="020B0604020202020204" charset="0"/>
              </a:rPr>
              <a:t>Dificultades: </a:t>
            </a:r>
          </a:p>
          <a:p>
            <a:pPr marL="285750" indent="-285750">
              <a:buClr>
                <a:srgbClr val="273D40"/>
              </a:buClr>
              <a:buSzPts val="600"/>
            </a:pPr>
            <a:r>
              <a:rPr lang="es-AR" b="1" dirty="0">
                <a:solidFill>
                  <a:schemeClr val="tx2">
                    <a:lumMod val="75000"/>
                  </a:schemeClr>
                </a:solidFill>
                <a:latin typeface="Oxygen" panose="020B0604020202020204" charset="0"/>
              </a:rPr>
              <a:t>Manejo correcto de las comas </a:t>
            </a:r>
          </a:p>
          <a:p>
            <a:pPr marL="285750" indent="-285750">
              <a:buClr>
                <a:srgbClr val="273D40"/>
              </a:buClr>
              <a:buSzPts val="600"/>
            </a:pPr>
            <a:r>
              <a:rPr lang="es-AR" b="1" dirty="0">
                <a:solidFill>
                  <a:schemeClr val="tx2">
                    <a:lumMod val="75000"/>
                  </a:schemeClr>
                </a:solidFill>
                <a:latin typeface="Oxygen" panose="020B0604020202020204" charset="0"/>
              </a:rPr>
              <a:t>Tokenización de los valores específicos como “cargo” y “estado”</a:t>
            </a:r>
            <a:endParaRPr lang="es-AR" dirty="0">
              <a:solidFill>
                <a:schemeClr val="tx2">
                  <a:lumMod val="75000"/>
                </a:schemeClr>
              </a:solidFill>
              <a:latin typeface="Oxygen" panose="020B060402020202020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3"/>
          <a:srcRect l="1081" r="1"/>
          <a:stretch/>
        </p:blipFill>
        <p:spPr>
          <a:xfrm>
            <a:off x="774390" y="2205185"/>
            <a:ext cx="5029200" cy="89796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390" y="3201242"/>
            <a:ext cx="6689939" cy="69206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685" y="4094015"/>
            <a:ext cx="3998252" cy="38179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21822A0-7CFE-8B46-C7B9-E53A5406E1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390" y="4068889"/>
            <a:ext cx="2221571" cy="393198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Gramática</a:t>
            </a:r>
            <a:endParaRPr sz="440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703" y="1766681"/>
            <a:ext cx="5231717" cy="805069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703" y="2860675"/>
            <a:ext cx="5296606" cy="53336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703" y="3780265"/>
            <a:ext cx="5763407" cy="918210"/>
          </a:xfrm>
          <a:prstGeom prst="rect">
            <a:avLst/>
          </a:prstGeo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F497369-345F-6069-9D69-73E9EDBA38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sz="1800" b="1" dirty="0">
                <a:solidFill>
                  <a:schemeClr val="tx2">
                    <a:lumMod val="75000"/>
                  </a:schemeClr>
                </a:solidFill>
                <a:latin typeface="Oxygen" panose="020B0604020202020204" charset="0"/>
              </a:rPr>
              <a:t>Correcciones: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483688602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7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Analizador Sintáctico</a:t>
            </a:r>
            <a:endParaRPr sz="4400" dirty="0"/>
          </a:p>
        </p:txBody>
      </p:sp>
      <p:sp>
        <p:nvSpPr>
          <p:cNvPr id="185" name="Google Shape;185;p37"/>
          <p:cNvSpPr txBox="1">
            <a:spLocks noGrp="1"/>
          </p:cNvSpPr>
          <p:nvPr>
            <p:ph type="title"/>
          </p:nvPr>
        </p:nvSpPr>
        <p:spPr>
          <a:xfrm>
            <a:off x="720000" y="280443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Lexer</a:t>
            </a:r>
            <a:endParaRPr dirty="0"/>
          </a:p>
        </p:txBody>
      </p:sp>
      <p:sp>
        <p:nvSpPr>
          <p:cNvPr id="187" name="Google Shape;187;p37"/>
          <p:cNvSpPr txBox="1">
            <a:spLocks noGrp="1"/>
          </p:cNvSpPr>
          <p:nvPr>
            <p:ph type="title" idx="3"/>
          </p:nvPr>
        </p:nvSpPr>
        <p:spPr>
          <a:xfrm>
            <a:off x="3403800" y="280443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Parser</a:t>
            </a:r>
            <a:endParaRPr dirty="0"/>
          </a:p>
        </p:txBody>
      </p:sp>
      <p:sp>
        <p:nvSpPr>
          <p:cNvPr id="189" name="Google Shape;189;p37"/>
          <p:cNvSpPr txBox="1">
            <a:spLocks noGrp="1"/>
          </p:cNvSpPr>
          <p:nvPr>
            <p:ph type="title" idx="6"/>
          </p:nvPr>
        </p:nvSpPr>
        <p:spPr>
          <a:xfrm>
            <a:off x="6087600" y="2804438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Traducción a html</a:t>
            </a:r>
            <a:endParaRPr dirty="0"/>
          </a:p>
        </p:txBody>
      </p:sp>
      <p:sp>
        <p:nvSpPr>
          <p:cNvPr id="191" name="Google Shape;191;p37"/>
          <p:cNvSpPr/>
          <p:nvPr/>
        </p:nvSpPr>
        <p:spPr>
          <a:xfrm>
            <a:off x="1402350" y="1385575"/>
            <a:ext cx="971700" cy="9717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37"/>
          <p:cNvSpPr/>
          <p:nvPr/>
        </p:nvSpPr>
        <p:spPr>
          <a:xfrm>
            <a:off x="4086150" y="1385575"/>
            <a:ext cx="971700" cy="9717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37"/>
          <p:cNvSpPr/>
          <p:nvPr/>
        </p:nvSpPr>
        <p:spPr>
          <a:xfrm>
            <a:off x="6769950" y="1385575"/>
            <a:ext cx="971700" cy="9717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4" name="Google Shape;194;p37"/>
          <p:cNvCxnSpPr>
            <a:stCxn id="191" idx="4"/>
            <a:endCxn id="185" idx="0"/>
          </p:cNvCxnSpPr>
          <p:nvPr/>
        </p:nvCxnSpPr>
        <p:spPr>
          <a:xfrm>
            <a:off x="1888200" y="2357275"/>
            <a:ext cx="0" cy="4473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37"/>
          <p:cNvCxnSpPr>
            <a:stCxn id="192" idx="4"/>
            <a:endCxn id="187" idx="0"/>
          </p:cNvCxnSpPr>
          <p:nvPr/>
        </p:nvCxnSpPr>
        <p:spPr>
          <a:xfrm>
            <a:off x="4572000" y="2357275"/>
            <a:ext cx="0" cy="4473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37"/>
          <p:cNvCxnSpPr>
            <a:stCxn id="193" idx="4"/>
            <a:endCxn id="189" idx="0"/>
          </p:cNvCxnSpPr>
          <p:nvPr/>
        </p:nvCxnSpPr>
        <p:spPr>
          <a:xfrm>
            <a:off x="7255800" y="2357275"/>
            <a:ext cx="0" cy="4473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7" name="Google Shape;197;p37"/>
          <p:cNvSpPr txBox="1">
            <a:spLocks noGrp="1"/>
          </p:cNvSpPr>
          <p:nvPr>
            <p:ph type="title" idx="2"/>
          </p:nvPr>
        </p:nvSpPr>
        <p:spPr>
          <a:xfrm>
            <a:off x="720000" y="1589526"/>
            <a:ext cx="23364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98" name="Google Shape;198;p37"/>
          <p:cNvSpPr txBox="1">
            <a:spLocks noGrp="1"/>
          </p:cNvSpPr>
          <p:nvPr>
            <p:ph type="title" idx="4"/>
          </p:nvPr>
        </p:nvSpPr>
        <p:spPr>
          <a:xfrm>
            <a:off x="3403800" y="1589526"/>
            <a:ext cx="23364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99" name="Google Shape;199;p37"/>
          <p:cNvSpPr txBox="1">
            <a:spLocks noGrp="1"/>
          </p:cNvSpPr>
          <p:nvPr>
            <p:ph type="title" idx="7"/>
          </p:nvPr>
        </p:nvSpPr>
        <p:spPr>
          <a:xfrm>
            <a:off x="6087600" y="1589526"/>
            <a:ext cx="23364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LEXER</a:t>
            </a:r>
            <a:endParaRPr sz="4400" dirty="0"/>
          </a:p>
        </p:txBody>
      </p:sp>
      <p:sp>
        <p:nvSpPr>
          <p:cNvPr id="230" name="Google Shape;230;p42"/>
          <p:cNvSpPr txBox="1">
            <a:spLocks noGrp="1"/>
          </p:cNvSpPr>
          <p:nvPr>
            <p:ph type="subTitle" idx="1"/>
          </p:nvPr>
        </p:nvSpPr>
        <p:spPr>
          <a:xfrm>
            <a:off x="650426" y="2377800"/>
            <a:ext cx="4293300" cy="12698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endParaRPr lang="es-A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s-AR" b="1" dirty="0"/>
              <a:t>Dificultades: </a:t>
            </a:r>
          </a:p>
          <a:p>
            <a:pPr marL="285750" indent="-285750">
              <a:buClr>
                <a:srgbClr val="273D40"/>
              </a:buClr>
              <a:buSzPts val="600"/>
            </a:pPr>
            <a:r>
              <a:rPr lang="es-AR" dirty="0"/>
              <a:t>URL</a:t>
            </a:r>
          </a:p>
          <a:p>
            <a:pPr marL="285750" indent="-285750">
              <a:buClr>
                <a:srgbClr val="273D40"/>
              </a:buClr>
              <a:buSzPts val="600"/>
            </a:pPr>
            <a:r>
              <a:rPr lang="es-AR" dirty="0"/>
              <a:t>Fecha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Tx/>
              <a:buChar char="-"/>
            </a:pPr>
            <a:endParaRPr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26" y="1283610"/>
            <a:ext cx="2679183" cy="1116326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8972" y="2629320"/>
            <a:ext cx="6277341" cy="2036681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" sz="4400" dirty="0"/>
              <a:t>Lexer interactivo</a:t>
            </a:r>
            <a:endParaRPr sz="4400" dirty="0"/>
          </a:p>
        </p:txBody>
      </p:sp>
      <p:sp>
        <p:nvSpPr>
          <p:cNvPr id="5" name="Rectángulo 4"/>
          <p:cNvSpPr/>
          <p:nvPr/>
        </p:nvSpPr>
        <p:spPr>
          <a:xfrm>
            <a:off x="719999" y="1288017"/>
            <a:ext cx="756907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rgbClr val="273D40"/>
              </a:buClr>
              <a:buSzPts val="600"/>
            </a:pPr>
            <a:r>
              <a:rPr lang="es-AR" sz="2400" b="1" dirty="0">
                <a:solidFill>
                  <a:schemeClr val="tx2">
                    <a:lumMod val="75000"/>
                  </a:schemeClr>
                </a:solidFill>
                <a:latin typeface="Oxygen" panose="020B0604020202020204" charset="0"/>
              </a:rPr>
              <a:t>Dificultades: </a:t>
            </a:r>
          </a:p>
          <a:p>
            <a:pPr marL="285750" lvl="0" indent="-285750">
              <a:buClr>
                <a:srgbClr val="273D40"/>
              </a:buClr>
              <a:buSzPts val="600"/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chemeClr val="tx2">
                    <a:lumMod val="75000"/>
                  </a:schemeClr>
                </a:solidFill>
                <a:latin typeface="Oxygen" panose="020B0604020202020204" charset="0"/>
              </a:rPr>
              <a:t>Fin del programa.</a:t>
            </a:r>
          </a:p>
          <a:p>
            <a:pPr marL="285750" lvl="0" indent="-285750">
              <a:buClr>
                <a:srgbClr val="273D40"/>
              </a:buClr>
              <a:buSzPts val="600"/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chemeClr val="tx2">
                    <a:lumMod val="75000"/>
                  </a:schemeClr>
                </a:solidFill>
                <a:latin typeface="Oxygen" panose="020B0604020202020204" charset="0"/>
              </a:rPr>
              <a:t>Ejecutable.</a:t>
            </a:r>
          </a:p>
          <a:p>
            <a:pPr marL="285750" lvl="0" indent="-285750">
              <a:buClr>
                <a:srgbClr val="273D40"/>
              </a:buClr>
              <a:buSzPts val="600"/>
              <a:buFont typeface="Arial" panose="020B0604020202020204" pitchFamily="34" charset="0"/>
              <a:buChar char="•"/>
            </a:pPr>
            <a:r>
              <a:rPr lang="es-AR" sz="2400" dirty="0">
                <a:solidFill>
                  <a:schemeClr val="tx2">
                    <a:lumMod val="75000"/>
                  </a:schemeClr>
                </a:solidFill>
                <a:latin typeface="Oxygen" panose="020B0604020202020204" charset="0"/>
              </a:rPr>
              <a:t>Manejar la diferenciación y reporte de errores en los diferentes modos (interactivo y por archivo).</a:t>
            </a:r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Parser</a:t>
            </a:r>
            <a:endParaRPr sz="4400" dirty="0"/>
          </a:p>
        </p:txBody>
      </p:sp>
      <p:sp>
        <p:nvSpPr>
          <p:cNvPr id="230" name="Google Shape;230;p42"/>
          <p:cNvSpPr txBox="1">
            <a:spLocks noGrp="1"/>
          </p:cNvSpPr>
          <p:nvPr>
            <p:ph type="subTitle" idx="1"/>
          </p:nvPr>
        </p:nvSpPr>
        <p:spPr>
          <a:xfrm>
            <a:off x="2425350" y="2819921"/>
            <a:ext cx="4293300" cy="12698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r">
              <a:buNone/>
            </a:pPr>
            <a:endParaRPr lang="es-AR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s-AR" sz="2400" b="1" dirty="0"/>
              <a:t>Dificultades: </a:t>
            </a:r>
          </a:p>
          <a:p>
            <a:pPr marL="285750" indent="-285750">
              <a:buClr>
                <a:srgbClr val="273D40"/>
              </a:buClr>
              <a:buSzPts val="600"/>
            </a:pPr>
            <a:r>
              <a:rPr lang="es-AR" sz="2400" dirty="0"/>
              <a:t>Producciones opcionales.</a:t>
            </a:r>
          </a:p>
          <a:p>
            <a:pPr marL="285750" indent="-285750">
              <a:buClr>
                <a:srgbClr val="273D40"/>
              </a:buClr>
              <a:buSzPts val="600"/>
            </a:pPr>
            <a:r>
              <a:rPr lang="es-AR" sz="2400" dirty="0"/>
              <a:t>Producciones alternativas.</a:t>
            </a:r>
          </a:p>
          <a:p>
            <a:pPr marL="285750" indent="-285750" algn="r">
              <a:buClr>
                <a:srgbClr val="273D40"/>
              </a:buClr>
              <a:buSzPts val="600"/>
            </a:pPr>
            <a:endParaRPr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642" y="1453207"/>
            <a:ext cx="3441304" cy="120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434406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3"/>
          <p:cNvSpPr txBox="1">
            <a:spLocks noGrp="1"/>
          </p:cNvSpPr>
          <p:nvPr>
            <p:ph type="title"/>
          </p:nvPr>
        </p:nvSpPr>
        <p:spPr>
          <a:xfrm>
            <a:off x="2082265" y="31864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4400" dirty="0"/>
              <a:t>Traducción HTML</a:t>
            </a:r>
            <a:endParaRPr sz="4400" dirty="0"/>
          </a:p>
        </p:txBody>
      </p:sp>
      <p:sp>
        <p:nvSpPr>
          <p:cNvPr id="8" name="Google Shape;230;p42"/>
          <p:cNvSpPr txBox="1">
            <a:spLocks noGrp="1"/>
          </p:cNvSpPr>
          <p:nvPr>
            <p:ph type="subTitle" idx="1"/>
          </p:nvPr>
        </p:nvSpPr>
        <p:spPr>
          <a:xfrm>
            <a:off x="2526498" y="3112961"/>
            <a:ext cx="4293300" cy="12698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>
              <a:buNone/>
            </a:pPr>
            <a:endParaRPr lang="es-AR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/>
              <a:buNone/>
            </a:pPr>
            <a:r>
              <a:rPr lang="es-AR" sz="2400" b="1" dirty="0"/>
              <a:t>Dificultades: </a:t>
            </a:r>
          </a:p>
          <a:p>
            <a:pPr marL="285750" indent="-285750">
              <a:buClr>
                <a:srgbClr val="273D40"/>
              </a:buClr>
              <a:buSzPts val="600"/>
            </a:pPr>
            <a:r>
              <a:rPr lang="es-AR" sz="2400" dirty="0"/>
              <a:t>Los contenedores.</a:t>
            </a:r>
          </a:p>
          <a:p>
            <a:pPr marL="285750" indent="-285750">
              <a:buClr>
                <a:srgbClr val="273D40"/>
              </a:buClr>
              <a:buSzPts val="600"/>
            </a:pPr>
            <a:r>
              <a:rPr lang="es-AR" sz="2400" dirty="0"/>
              <a:t>Volatilidad de las variables.</a:t>
            </a:r>
          </a:p>
          <a:p>
            <a:pPr marL="285750" indent="-285750" algn="r">
              <a:buClr>
                <a:srgbClr val="273D40"/>
              </a:buClr>
              <a:buSzPts val="600"/>
            </a:pPr>
            <a:endParaRPr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2547" y="1343769"/>
            <a:ext cx="2724530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880622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5B45E2E3-CA2C-DD82-19E4-8EB349E29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3">
            <a:extLst>
              <a:ext uri="{FF2B5EF4-FFF2-40B4-BE49-F238E27FC236}">
                <a16:creationId xmlns:a16="http://schemas.microsoft.com/office/drawing/2014/main" id="{45EF77B7-0983-4205-01EC-255B6C43A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41738" y="31864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AR" sz="4400" dirty="0"/>
              <a:t>Resultado Final </a:t>
            </a:r>
            <a:endParaRPr sz="44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24A6E1B-BCD1-95B0-1A54-A1347B321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31" y="1279666"/>
            <a:ext cx="8289073" cy="305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582066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>
          <a:extLst>
            <a:ext uri="{FF2B5EF4-FFF2-40B4-BE49-F238E27FC236}">
              <a16:creationId xmlns:a16="http://schemas.microsoft.com/office/drawing/2014/main" id="{AE1B16D0-D0CF-C151-D272-52F957687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3">
            <a:extLst>
              <a:ext uri="{FF2B5EF4-FFF2-40B4-BE49-F238E27FC236}">
                <a16:creationId xmlns:a16="http://schemas.microsoft.com/office/drawing/2014/main" id="{49444E3E-3A39-4E01-B0A7-BB6F5C28D2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2265" y="31864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AR" sz="4400" dirty="0"/>
              <a:t>CONCLUSIONES </a:t>
            </a:r>
            <a:endParaRPr sz="4400" dirty="0"/>
          </a:p>
        </p:txBody>
      </p:sp>
      <p:sp>
        <p:nvSpPr>
          <p:cNvPr id="8" name="Google Shape;230;p42">
            <a:extLst>
              <a:ext uri="{FF2B5EF4-FFF2-40B4-BE49-F238E27FC236}">
                <a16:creationId xmlns:a16="http://schemas.microsoft.com/office/drawing/2014/main" id="{08931C1C-9A58-6208-4103-E16D0CD29C1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81238" y="1209820"/>
            <a:ext cx="5993903" cy="12698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 panose="020B0604020202020204" pitchFamily="34" charset="0"/>
              <a:buChar char="•"/>
            </a:pPr>
            <a:r>
              <a:rPr lang="es-AR" sz="2400" dirty="0"/>
              <a:t>Gramática completa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None/>
            </a:pPr>
            <a:r>
              <a:rPr lang="es-AR" sz="2400" dirty="0"/>
              <a:t> </a:t>
            </a:r>
          </a:p>
          <a:p>
            <a:pPr marL="342900" lvl="0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 panose="020B0604020202020204" pitchFamily="34" charset="0"/>
              <a:buChar char="•"/>
            </a:pPr>
            <a:r>
              <a:rPr lang="es-AR" sz="2400" dirty="0"/>
              <a:t>Parser y traductor funcional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None/>
            </a:pPr>
            <a:endParaRPr lang="es-AR" sz="2400" dirty="0"/>
          </a:p>
          <a:p>
            <a:pPr marL="342900" lvl="0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 panose="020B0604020202020204" pitchFamily="34" charset="0"/>
              <a:buChar char="•"/>
            </a:pPr>
            <a:r>
              <a:rPr lang="es-AR" sz="2400" dirty="0"/>
              <a:t>Análisis léxico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None/>
            </a:pPr>
            <a:endParaRPr lang="es-AR" sz="2400" dirty="0"/>
          </a:p>
          <a:p>
            <a:pPr marL="342900" lvl="0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 panose="020B0604020202020204" pitchFamily="34" charset="0"/>
              <a:buChar char="•"/>
            </a:pPr>
            <a:r>
              <a:rPr lang="es-AR" sz="2400" dirty="0"/>
              <a:t>Desafíos técnicos superados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None/>
            </a:pPr>
            <a:r>
              <a:rPr lang="es-AR" sz="2400" dirty="0"/>
              <a:t> </a:t>
            </a:r>
          </a:p>
          <a:p>
            <a:pPr marL="342900" lvl="0" rtl="0">
              <a:spcBef>
                <a:spcPts val="0"/>
              </a:spcBef>
              <a:spcAft>
                <a:spcPts val="0"/>
              </a:spcAft>
              <a:buClr>
                <a:srgbClr val="273D40"/>
              </a:buClr>
              <a:buSzPts val="600"/>
              <a:buFont typeface="Arial" panose="020B0604020202020204" pitchFamily="34" charset="0"/>
              <a:buChar char="•"/>
            </a:pPr>
            <a:r>
              <a:rPr lang="es-AR" sz="2400" dirty="0"/>
              <a:t>Aprendizaje </a:t>
            </a:r>
          </a:p>
          <a:p>
            <a:pPr marL="285750" indent="-285750" algn="r">
              <a:buClr>
                <a:srgbClr val="273D40"/>
              </a:buClr>
              <a:buSzPts val="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6968520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8"/>
          <p:cNvSpPr txBox="1">
            <a:spLocks noGrp="1"/>
          </p:cNvSpPr>
          <p:nvPr>
            <p:ph type="title"/>
          </p:nvPr>
        </p:nvSpPr>
        <p:spPr>
          <a:xfrm>
            <a:off x="1462775" y="1330050"/>
            <a:ext cx="6218400" cy="16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Gracias!!! </a:t>
            </a:r>
            <a:r>
              <a:rPr lang="en" dirty="0">
                <a:sym typeface="Wingdings" panose="05000000000000000000" pitchFamily="2" charset="2"/>
              </a:rPr>
              <a:t></a:t>
            </a:r>
            <a:endParaRPr dirty="0"/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Minimalist Aesthetic Slideshow by Slidesgo">
  <a:themeElements>
    <a:clrScheme name="Simple Light">
      <a:dk1>
        <a:srgbClr val="6D5B57"/>
      </a:dk1>
      <a:lt1>
        <a:srgbClr val="F2E1D8"/>
      </a:lt1>
      <a:dk2>
        <a:srgbClr val="595959"/>
      </a:dk2>
      <a:lt2>
        <a:srgbClr val="B08980"/>
      </a:lt2>
      <a:accent1>
        <a:srgbClr val="6D5B57"/>
      </a:accent1>
      <a:accent2>
        <a:srgbClr val="F2E1D8"/>
      </a:accent2>
      <a:accent3>
        <a:srgbClr val="595959"/>
      </a:accent3>
      <a:accent4>
        <a:srgbClr val="B08980"/>
      </a:accent4>
      <a:accent5>
        <a:srgbClr val="F2E1D8"/>
      </a:accent5>
      <a:accent6>
        <a:srgbClr val="595959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242</Words>
  <Application>Microsoft Office PowerPoint</Application>
  <PresentationFormat>Presentación en pantalla (16:9)</PresentationFormat>
  <Paragraphs>70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Arial</vt:lpstr>
      <vt:lpstr>Maven Pro</vt:lpstr>
      <vt:lpstr>Poiret One</vt:lpstr>
      <vt:lpstr>Oxygen</vt:lpstr>
      <vt:lpstr>Oxygen Light</vt:lpstr>
      <vt:lpstr>Wingdings</vt:lpstr>
      <vt:lpstr>Minimalist Aesthetic Slideshow by Slidesgo</vt:lpstr>
      <vt:lpstr>Sintaxis y Semántica de los lenguajes Trabajo Práctico Integrador</vt:lpstr>
      <vt:lpstr>LENGUAJE   UTILIZADO</vt:lpstr>
      <vt:lpstr>Herramientas que usamos y sus librerias </vt:lpstr>
      <vt:lpstr>Gramática</vt:lpstr>
      <vt:lpstr>Gramática</vt:lpstr>
      <vt:lpstr>Analizador Sintáctico</vt:lpstr>
      <vt:lpstr>LEXER</vt:lpstr>
      <vt:lpstr>Lexer interactivo</vt:lpstr>
      <vt:lpstr>Parser</vt:lpstr>
      <vt:lpstr>Traducción HTML</vt:lpstr>
      <vt:lpstr>Resultado Final </vt:lpstr>
      <vt:lpstr>CONCLUSIONES </vt:lpstr>
      <vt:lpstr>Gracias!!! 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Sintaxis y Semántica de los lenguajes Trabajo Práctico Integrador</dc:title>
  <dc:creator>MIPC</dc:creator>
  <cp:lastModifiedBy>Mariela Yasmín GODOY</cp:lastModifiedBy>
  <cp:revision>16</cp:revision>
  <dcterms:modified xsi:type="dcterms:W3CDTF">2025-07-07T03:45:41Z</dcterms:modified>
</cp:coreProperties>
</file>